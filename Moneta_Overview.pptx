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66928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68E0CE"/>
                </a:solidFill>
                <a:latin typeface="Aptos"/>
              </a:rPr>
              <a:t>MONETA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33856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A6B2C8"/>
                </a:solidFill>
                <a:latin typeface="Aptos"/>
              </a:rPr>
              <a:t>LOCAL KNOWLEDGE  •  BOOKMARK VAULT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37360"/>
            <a:ext cx="6035040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3500" b="1">
                <a:solidFill>
                  <a:srgbClr val="F4F7FC"/>
                </a:solidFill>
                <a:latin typeface="Aptos"/>
              </a:rPr>
              <a:t>Remember more.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3500" b="1">
                <a:solidFill>
                  <a:srgbClr val="F4F7FC"/>
                </a:solidFill>
                <a:latin typeface="Aptos"/>
              </a:rPr>
              <a:t>Rediscover faster.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493008"/>
            <a:ext cx="5212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700" b="0">
                <a:solidFill>
                  <a:srgbClr val="A6B2C8"/>
                </a:solidFill>
                <a:latin typeface="Aptos"/>
              </a:rPr>
              <a:t>Turn saved links, files, screenshots and notes into one searchable, connected workspace.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7548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68E0CE"/>
                </a:solidFill>
                <a:latin typeface="Aptos"/>
              </a:rPr>
              <a:t>RUST   ·   TAURI   ·   SQLITE   ·   LOCAL AI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635240" y="1847088"/>
            <a:ext cx="1783080" cy="640080"/>
          </a:xfrm>
          <a:prstGeom prst="line">
            <a:avLst/>
          </a:prstGeom>
          <a:ln w="21590">
            <a:solidFill>
              <a:srgbClr val="29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418320" y="1645920"/>
            <a:ext cx="1152144" cy="841248"/>
          </a:xfrm>
          <a:prstGeom prst="line">
            <a:avLst/>
          </a:prstGeom>
          <a:ln w="21590">
            <a:solidFill>
              <a:srgbClr val="29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418320" y="2487168"/>
            <a:ext cx="1143000" cy="1298447"/>
          </a:xfrm>
          <a:prstGeom prst="line">
            <a:avLst/>
          </a:prstGeom>
          <a:ln w="21590">
            <a:solidFill>
              <a:srgbClr val="29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452360" y="1847088"/>
            <a:ext cx="182880" cy="2066544"/>
          </a:xfrm>
          <a:prstGeom prst="line">
            <a:avLst/>
          </a:prstGeom>
          <a:ln w="21590">
            <a:solidFill>
              <a:srgbClr val="29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452360" y="2487168"/>
            <a:ext cx="1965960" cy="1426464"/>
          </a:xfrm>
          <a:prstGeom prst="line">
            <a:avLst/>
          </a:prstGeom>
          <a:ln w="21590">
            <a:solidFill>
              <a:srgbClr val="29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452360" y="3913632"/>
            <a:ext cx="1874520" cy="804672"/>
          </a:xfrm>
          <a:prstGeom prst="line">
            <a:avLst/>
          </a:prstGeom>
          <a:ln w="21590">
            <a:solidFill>
              <a:srgbClr val="29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326880" y="3785615"/>
            <a:ext cx="1234440" cy="932689"/>
          </a:xfrm>
          <a:prstGeom prst="line">
            <a:avLst/>
          </a:prstGeom>
          <a:ln w="21590">
            <a:solidFill>
              <a:srgbClr val="293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315200" y="1527048"/>
            <a:ext cx="621792" cy="621792"/>
          </a:xfrm>
          <a:prstGeom prst="ellipse">
            <a:avLst/>
          </a:prstGeom>
          <a:solidFill>
            <a:srgbClr val="73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070848" y="2139696"/>
            <a:ext cx="749808" cy="749808"/>
          </a:xfrm>
          <a:prstGeom prst="ellipse">
            <a:avLst/>
          </a:prstGeom>
          <a:solidFill>
            <a:srgbClr val="68E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87000" y="1371600"/>
            <a:ext cx="566928" cy="566928"/>
          </a:xfrm>
          <a:prstGeom prst="ellipse">
            <a:avLst/>
          </a:prstGeom>
          <a:solidFill>
            <a:srgbClr val="B3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287000" y="3511296"/>
            <a:ext cx="658368" cy="658368"/>
          </a:xfrm>
          <a:prstGeom prst="ellipse">
            <a:avLst/>
          </a:prstGeom>
          <a:solidFill>
            <a:srgbClr val="73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32320" y="3602736"/>
            <a:ext cx="566928" cy="566928"/>
          </a:xfrm>
          <a:prstGeom prst="ellipse">
            <a:avLst/>
          </a:prstGeom>
          <a:solidFill>
            <a:srgbClr val="FFD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88552" y="4370832"/>
            <a:ext cx="603504" cy="603504"/>
          </a:xfrm>
          <a:prstGeom prst="ellipse">
            <a:avLst/>
          </a:prstGeom>
          <a:solidFill>
            <a:srgbClr val="B3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68512" y="1737360"/>
            <a:ext cx="1463040" cy="1463040"/>
          </a:xfrm>
          <a:prstGeom prst="ellipse">
            <a:avLst/>
          </a:prstGeom>
          <a:solidFill>
            <a:srgbClr val="1A2540"/>
          </a:solidFill>
          <a:ln w="12700">
            <a:solidFill>
              <a:srgbClr val="68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68512" y="205740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3100" b="1">
                <a:solidFill>
                  <a:srgbClr val="F4F7FC"/>
                </a:solidFill>
                <a:latin typeface="Aptos"/>
              </a:rPr>
              <a:t>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5349240"/>
            <a:ext cx="39776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300" b="1">
                <a:solidFill>
                  <a:srgbClr val="A6B2C8"/>
                </a:solidFill>
                <a:latin typeface="Aptos"/>
              </a:rPr>
              <a:t>Capture  →  Connect  →  Find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510528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MONETA  /  PROJECT OVERVIEW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01  /  06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391656"/>
            <a:ext cx="10927080" cy="10972"/>
          </a:xfrm>
          <a:prstGeom prst="rect">
            <a:avLst/>
          </a:prstGeom>
          <a:solidFill>
            <a:srgbClr val="29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9692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1">
                <a:solidFill>
                  <a:srgbClr val="68E0CE"/>
                </a:solidFill>
                <a:latin typeface="Aptos"/>
              </a:rPr>
              <a:t>01  / 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97280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800" b="1">
                <a:solidFill>
                  <a:srgbClr val="F4F7FC"/>
                </a:solidFill>
                <a:latin typeface="Aptos"/>
              </a:rPr>
              <a:t>Good ideas get saved. Their context gets lost.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>
                <a:solidFill>
                  <a:srgbClr val="A6B2C8"/>
                </a:solidFill>
                <a:latin typeface="Aptos"/>
              </a:rPr>
              <a:t>Digital knowledge is scattered across tabs, documents, screenshots and quick notes.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221992"/>
            <a:ext cx="3520440" cy="2057400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44144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1">
                <a:solidFill>
                  <a:srgbClr val="73B9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907792"/>
            <a:ext cx="3063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F4F7FC"/>
                </a:solidFill>
                <a:latin typeface="Aptos"/>
              </a:rPr>
              <a:t>Scattered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401568"/>
            <a:ext cx="299923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>
                <a:solidFill>
                  <a:srgbClr val="A6B2C8"/>
                </a:solidFill>
                <a:latin typeface="Aptos"/>
              </a:rPr>
              <a:t>Bookmarks live in the browser; files and notes live somewhere else.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221992"/>
            <a:ext cx="3520440" cy="2057400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59" y="244144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1">
                <a:solidFill>
                  <a:srgbClr val="B39BFF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2907792"/>
            <a:ext cx="3063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F4F7FC"/>
                </a:solidFill>
                <a:latin typeface="Aptos"/>
              </a:rPr>
              <a:t>Weak retrieval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3401568"/>
            <a:ext cx="299923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>
                <a:solidFill>
                  <a:srgbClr val="A6B2C8"/>
                </a:solidFill>
                <a:latin typeface="Aptos"/>
              </a:rPr>
              <a:t>A saved item is hard to find when you remember the idea, not its title.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2221992"/>
            <a:ext cx="3520440" cy="2057400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31352" y="244144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1">
                <a:solidFill>
                  <a:srgbClr val="FFD078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1352" y="2907792"/>
            <a:ext cx="3063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F4F7FC"/>
                </a:solidFill>
                <a:latin typeface="Aptos"/>
              </a:rPr>
              <a:t>Missing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352" y="3401568"/>
            <a:ext cx="299923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>
                <a:solidFill>
                  <a:srgbClr val="A6B2C8"/>
                </a:solidFill>
                <a:latin typeface="Aptos"/>
              </a:rPr>
              <a:t>Time, extracted text and the reason an item mattered are easy to lose.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81888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1">
                <a:solidFill>
                  <a:srgbClr val="68E0CE"/>
                </a:solidFill>
                <a:latin typeface="Aptos"/>
              </a:rPr>
              <a:t>The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773168"/>
            <a:ext cx="90525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1">
                <a:solidFill>
                  <a:srgbClr val="F4F7FC"/>
                </a:solidFill>
                <a:latin typeface="Aptos"/>
              </a:rPr>
              <a:t>More collecting. Less connecting. More time spent searching.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MONETA  /  PROJECT 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02  /  06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391656"/>
            <a:ext cx="10927080" cy="10972"/>
          </a:xfrm>
          <a:prstGeom prst="rect">
            <a:avLst/>
          </a:prstGeom>
          <a:solidFill>
            <a:srgbClr val="29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9692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1">
                <a:solidFill>
                  <a:srgbClr val="68E0CE"/>
                </a:solidFill>
                <a:latin typeface="Aptos"/>
              </a:rPr>
              <a:t>02  /  THE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97280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800" b="1">
                <a:solidFill>
                  <a:srgbClr val="F4F7FC"/>
                </a:solidFill>
                <a:latin typeface="Aptos"/>
              </a:rPr>
              <a:t>A lightweight pipeline from capture to rediscovery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>
                <a:solidFill>
                  <a:srgbClr val="A6B2C8"/>
                </a:solidFill>
                <a:latin typeface="Aptos"/>
              </a:rPr>
              <a:t>One local vault turns everyday captures into structured, searchable material.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304288"/>
            <a:ext cx="2487168" cy="2395728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2542032"/>
            <a:ext cx="347472" cy="347472"/>
          </a:xfrm>
          <a:prstGeom prst="ellipse">
            <a:avLst/>
          </a:prstGeom>
          <a:solidFill>
            <a:srgbClr val="73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574036"/>
            <a:ext cx="3474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0B1020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0632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>
                <a:solidFill>
                  <a:srgbClr val="73B9FF"/>
                </a:solidFill>
                <a:latin typeface="Aptos"/>
              </a:rPr>
              <a:t>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502152"/>
            <a:ext cx="2048256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Web pages &amp; links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Selected text / notes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Files, EPUB &amp; images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218688"/>
            <a:ext cx="30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2000" b="1">
                <a:solidFill>
                  <a:srgbClr val="A6B2C8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1296" y="2304288"/>
            <a:ext cx="2487168" cy="2395728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30752" y="2542032"/>
            <a:ext cx="347472" cy="347472"/>
          </a:xfrm>
          <a:prstGeom prst="ellipse">
            <a:avLst/>
          </a:prstGeom>
          <a:solidFill>
            <a:srgbClr val="B3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2574036"/>
            <a:ext cx="3474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0B1020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30632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>
                <a:solidFill>
                  <a:srgbClr val="B39BFF"/>
                </a:solidFill>
                <a:latin typeface="Aptos"/>
              </a:rPr>
              <a:t>ENRICH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3502152"/>
            <a:ext cx="2048256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Extract text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OCR for images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Automatic tags &amp; vectors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3327" y="3218688"/>
            <a:ext cx="30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2000" b="1">
                <a:solidFill>
                  <a:srgbClr val="A6B2C8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64224" y="2304288"/>
            <a:ext cx="2487168" cy="2395728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3680" y="2542032"/>
            <a:ext cx="347472" cy="347472"/>
          </a:xfrm>
          <a:prstGeom prst="ellipse">
            <a:avLst/>
          </a:prstGeom>
          <a:solidFill>
            <a:srgbClr val="68E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574036"/>
            <a:ext cx="3474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0B1020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0632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>
                <a:solidFill>
                  <a:srgbClr val="68E0CE"/>
                </a:solidFill>
                <a:latin typeface="Aptos"/>
              </a:rPr>
              <a:t>ORGANIZE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502152"/>
            <a:ext cx="2048256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Markdown + YAML records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SQLite search index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Dates, sources &amp; tags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06256" y="3218688"/>
            <a:ext cx="30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2000" b="1">
                <a:solidFill>
                  <a:srgbClr val="A6B2C8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17152" y="2304288"/>
            <a:ext cx="2487168" cy="2395728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36608" y="2542032"/>
            <a:ext cx="347472" cy="347472"/>
          </a:xfrm>
          <a:prstGeom prst="ellipse">
            <a:avLst/>
          </a:prstGeom>
          <a:solidFill>
            <a:srgbClr val="FFD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36608" y="2574036"/>
            <a:ext cx="3474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0B1020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36608" y="30632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>
                <a:solidFill>
                  <a:srgbClr val="FFD078"/>
                </a:solidFill>
                <a:latin typeface="Aptos"/>
              </a:rPr>
              <a:t>REDISCOVER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3502152"/>
            <a:ext cx="2048256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Keyword + semantic search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Related-bookmark graph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Wiki-link connections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102352"/>
            <a:ext cx="10954512" cy="658368"/>
          </a:xfrm>
          <a:prstGeom prst="roundRect">
            <a:avLst>
              <a:gd name="adj" fmla="val 12000"/>
            </a:avLst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5285232"/>
            <a:ext cx="10378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The bookmark becomes a useful piece of a personal knowledge graph—not just another saved URL.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MONETA  /  PROJECT OVERVIEW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03  /  06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391656"/>
            <a:ext cx="10927080" cy="10972"/>
          </a:xfrm>
          <a:prstGeom prst="rect">
            <a:avLst/>
          </a:prstGeom>
          <a:solidFill>
            <a:srgbClr val="29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9692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1">
                <a:solidFill>
                  <a:srgbClr val="68E0CE"/>
                </a:solidFill>
                <a:latin typeface="Aptos"/>
              </a:rPr>
              <a:t>03  /  WHAT IT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97280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800" b="1">
                <a:solidFill>
                  <a:srgbClr val="F4F7FC"/>
                </a:solidFill>
                <a:latin typeface="Aptos"/>
              </a:rPr>
              <a:t>Capture in the moment. Find by memory. Explore by connection.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>
                <a:solidFill>
                  <a:srgbClr val="A6B2C8"/>
                </a:solidFill>
                <a:latin typeface="Aptos"/>
              </a:rPr>
              <a:t>Designed for fast personal knowledge capture with several ways back into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57400"/>
            <a:ext cx="5166360" cy="3611880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3317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68E0CE"/>
                </a:solidFill>
                <a:latin typeface="Aptos"/>
              </a:rPr>
              <a:t>CAPTURE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779776"/>
            <a:ext cx="4572000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73B9FF"/>
                </a:solidFill>
                <a:latin typeface="Aptos"/>
              </a:rPr>
              <a:t>Browser</a:t>
            </a:r>
            <a:r>
              <a:rPr sz="1300">
                <a:solidFill>
                  <a:srgbClr val="F4F7FC"/>
                </a:solidFill>
                <a:latin typeface="Aptos"/>
              </a:rPr>
              <a:t>  Chrome bookmark sync and selected-page capture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B39BFF"/>
                </a:solidFill>
                <a:latin typeface="Aptos"/>
              </a:rPr>
              <a:t>Desktop</a:t>
            </a:r>
            <a:r>
              <a:rPr sz="1300">
                <a:solidFill>
                  <a:srgbClr val="F4F7FC"/>
                </a:solidFill>
                <a:latin typeface="Aptos"/>
              </a:rPr>
              <a:t>  Hotkeys, selected text, screenshots and screen OCR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FFD078"/>
                </a:solidFill>
                <a:latin typeface="Aptos"/>
              </a:rPr>
              <a:t>Documents</a:t>
            </a:r>
            <a:r>
              <a:rPr sz="1300">
                <a:solidFill>
                  <a:srgbClr val="F4F7FC"/>
                </a:solidFill>
                <a:latin typeface="Aptos"/>
              </a:rPr>
              <a:t>  Text, EPUB, images and OCR; PDF text utilities are present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68E0CE"/>
                </a:solidFill>
                <a:latin typeface="Aptos"/>
              </a:rPr>
              <a:t>Organization</a:t>
            </a:r>
            <a:r>
              <a:rPr sz="1300">
                <a:solidFill>
                  <a:srgbClr val="F4F7FC"/>
                </a:solidFill>
                <a:latin typeface="Aptos"/>
              </a:rPr>
              <a:t>  Tags, timestamps, source paths and local vault files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08192" y="2057400"/>
            <a:ext cx="5468112" cy="3611880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33172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68E0CE"/>
                </a:solidFill>
                <a:latin typeface="Aptos"/>
              </a:rPr>
              <a:t>REDISCOVER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779776"/>
            <a:ext cx="4736592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73B9FF"/>
                </a:solidFill>
                <a:latin typeface="Aptos"/>
              </a:rPr>
              <a:t>Quick filtering</a:t>
            </a:r>
            <a:r>
              <a:rPr sz="1300">
                <a:solidFill>
                  <a:srgbClr val="F4F7FC"/>
                </a:solidFill>
                <a:latin typeface="Aptos"/>
              </a:rPr>
              <a:t>  Search bookmark titles, tags and captured text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B39BFF"/>
                </a:solidFill>
                <a:latin typeface="Aptos"/>
              </a:rPr>
              <a:t>Search engine</a:t>
            </a:r>
            <a:r>
              <a:rPr sz="1300">
                <a:solidFill>
                  <a:srgbClr val="F4F7FC"/>
                </a:solidFill>
                <a:latin typeface="Aptos"/>
              </a:rPr>
              <a:t>  Rust modules implement keyword, semantic and hybrid ranking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FFD078"/>
                </a:solidFill>
                <a:latin typeface="Aptos"/>
              </a:rPr>
              <a:t>Knowledge graph</a:t>
            </a:r>
            <a:r>
              <a:rPr sz="1300">
                <a:solidFill>
                  <a:srgbClr val="F4F7FC"/>
                </a:solidFill>
                <a:latin typeface="Aptos"/>
              </a:rPr>
              <a:t>  Explore wiki links and embedding-similar items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00" b="1">
                <a:solidFill>
                  <a:srgbClr val="68E0CE"/>
                </a:solidFill>
                <a:latin typeface="Aptos"/>
              </a:rPr>
              <a:t>Context</a:t>
            </a:r>
            <a:r>
              <a:rPr sz="1300">
                <a:solidFill>
                  <a:srgbClr val="F4F7FC"/>
                </a:solidFill>
                <a:latin typeface="Aptos"/>
              </a:rPr>
              <a:t>  See capture time, source, previews and recent Chrome searches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70448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000" b="0">
                <a:solidFill>
                  <a:srgbClr val="A6B2C8"/>
                </a:solidFill>
                <a:latin typeface="Aptos"/>
              </a:rPr>
              <a:t>The UI and deeper search modules have different levels of integration today.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10528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MONETA  /  PROJECT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04  /  06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391656"/>
            <a:ext cx="10927080" cy="10972"/>
          </a:xfrm>
          <a:prstGeom prst="rect">
            <a:avLst/>
          </a:prstGeom>
          <a:solidFill>
            <a:srgbClr val="29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9692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1">
                <a:solidFill>
                  <a:srgbClr val="68E0CE"/>
                </a:solidFill>
                <a:latin typeface="Aptos"/>
              </a:rPr>
              <a:t>04  /  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97280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800" b="1">
                <a:solidFill>
                  <a:srgbClr val="F4F7FC"/>
                </a:solidFill>
                <a:latin typeface="Aptos"/>
              </a:rPr>
              <a:t>A Rust core, desktop UI and local data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>
                <a:solidFill>
                  <a:srgbClr val="A6B2C8"/>
                </a:solidFill>
                <a:latin typeface="Aptos"/>
              </a:rPr>
              <a:t>The design keeps capture, enrichment and retrieval close to the user’s machine.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084831"/>
            <a:ext cx="2432304" cy="2651760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22576"/>
            <a:ext cx="204825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73B9FF"/>
                </a:solidFill>
                <a:latin typeface="Aptos"/>
              </a:rPr>
              <a:t>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07791"/>
            <a:ext cx="204825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F4F7FC"/>
                </a:solidFill>
                <a:latin typeface="Aptos"/>
              </a:rPr>
              <a:t>HTML · CSS · JavaScript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F4F7FC"/>
                </a:solidFill>
                <a:latin typeface="Aptos"/>
              </a:rPr>
              <a:t>Tauri 2 desktop shell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F4F7FC"/>
                </a:solidFill>
                <a:latin typeface="Aptos"/>
              </a:rPr>
              <a:t>Chrome extension (MV3)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2084831"/>
            <a:ext cx="2468880" cy="2651760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2736" y="2322576"/>
            <a:ext cx="208483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68E0CE"/>
                </a:solidFill>
                <a:latin typeface="Aptos"/>
              </a:rPr>
              <a:t>APPLICATION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2736" y="2907791"/>
            <a:ext cx="208483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F4F7FC"/>
                </a:solidFill>
                <a:latin typeface="Aptos"/>
              </a:rPr>
              <a:t>Rust modules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F4F7FC"/>
                </a:solidFill>
                <a:latin typeface="Aptos"/>
              </a:rPr>
              <a:t>Tauri commands + hotkeys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F4F7FC"/>
                </a:solidFill>
                <a:latin typeface="Aptos"/>
              </a:rPr>
              <a:t>Axum / Tokio local bridge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084831"/>
            <a:ext cx="2468880" cy="2651760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2322576"/>
            <a:ext cx="208483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B39BFF"/>
                </a:solidFill>
                <a:latin typeface="Aptos"/>
              </a:rPr>
              <a:t>AI &amp;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907791"/>
            <a:ext cx="208483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F4F7FC"/>
                </a:solidFill>
                <a:latin typeface="Aptos"/>
              </a:rPr>
              <a:t>Candle + tokenizers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F4F7FC"/>
                </a:solidFill>
                <a:latin typeface="Aptos"/>
              </a:rPr>
              <a:t>Local GGUF models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F4F7FC"/>
                </a:solidFill>
                <a:latin typeface="Aptos"/>
              </a:rPr>
              <a:t>SQLite · embeddings · OCR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51392" y="2084831"/>
            <a:ext cx="2606040" cy="2651760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2322576"/>
            <a:ext cx="222199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FFD078"/>
                </a:solidFill>
                <a:latin typeface="Aptos"/>
              </a:rPr>
              <a:t>LOCAL VAULT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907791"/>
            <a:ext cx="222199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F4F7FC"/>
                </a:solidFill>
                <a:latin typeface="Aptos"/>
              </a:rPr>
              <a:t>Markdown + YAML records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F4F7FC"/>
                </a:solidFill>
                <a:latin typeface="Aptos"/>
              </a:rPr>
              <a:t>SQLite search index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F4F7FC"/>
                </a:solidFill>
                <a:latin typeface="Aptos"/>
              </a:rPr>
              <a:t>Files, tags &amp; timestamps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72968" y="3163824"/>
            <a:ext cx="228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900" b="1">
                <a:solidFill>
                  <a:srgbClr val="A6B2C8"/>
                </a:solidFill>
                <a:latin typeface="Aptos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3163824"/>
            <a:ext cx="228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900" b="1">
                <a:solidFill>
                  <a:srgbClr val="A6B2C8"/>
                </a:solidFill>
                <a:latin typeface="Apto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2792" y="3163824"/>
            <a:ext cx="228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900" b="1">
                <a:solidFill>
                  <a:srgbClr val="A6B2C8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5047488"/>
            <a:ext cx="10744200" cy="594360"/>
          </a:xfrm>
          <a:prstGeom prst="roundRect">
            <a:avLst>
              <a:gd name="adj" fmla="val 12000"/>
            </a:avLst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52303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300" b="1">
                <a:solidFill>
                  <a:srgbClr val="F4F7FC"/>
                </a:solidFill>
                <a:latin typeface="Aptos"/>
              </a:rPr>
              <a:t>Capture adapters  ·  local enrichment  ·  searchable vault  ·  graph &amp;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MONETA  /  PROJECT OVERVIEW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05  /  06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391656"/>
            <a:ext cx="10927080" cy="10972"/>
          </a:xfrm>
          <a:prstGeom prst="rect">
            <a:avLst/>
          </a:prstGeom>
          <a:solidFill>
            <a:srgbClr val="29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9692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1">
                <a:solidFill>
                  <a:srgbClr val="68E0CE"/>
                </a:solidFill>
                <a:latin typeface="Aptos"/>
              </a:rPr>
              <a:t>05  /  WHY LOCAL-FIRST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49808"/>
            <a:ext cx="1097280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800" b="1">
                <a:solidFill>
                  <a:srgbClr val="F4F7FC"/>
                </a:solidFill>
                <a:latin typeface="Aptos"/>
              </a:rPr>
              <a:t>Useful knowledge—without making the cloud the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>
                <a:solidFill>
                  <a:srgbClr val="A6B2C8"/>
                </a:solidFill>
                <a:latin typeface="Aptos"/>
              </a:rPr>
              <a:t>Keep personal material on-device while making it easier to reconnect later.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84831"/>
            <a:ext cx="5074920" cy="3401568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359152"/>
            <a:ext cx="4251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68E0CE"/>
                </a:solidFill>
                <a:latin typeface="Aptos"/>
              </a:rPr>
              <a:t>WHAT THE CODE SUPPORTS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779776"/>
            <a:ext cx="4526280" cy="2395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1">
                <a:solidFill>
                  <a:srgbClr val="73B9FF"/>
                </a:solidFill>
                <a:latin typeface="Aptos"/>
              </a:rPr>
              <a:t>Local records</a:t>
            </a:r>
            <a:r>
              <a:rPr sz="1200">
                <a:solidFill>
                  <a:srgbClr val="F4F7FC"/>
                </a:solidFill>
                <a:latin typeface="Aptos"/>
              </a:rPr>
              <a:t>  Markdown/YAML bookmarks and a SQLite index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1">
                <a:solidFill>
                  <a:srgbClr val="B39BFF"/>
                </a:solidFill>
                <a:latin typeface="Aptos"/>
              </a:rPr>
              <a:t>Local AI path</a:t>
            </a:r>
            <a:r>
              <a:rPr sz="1200">
                <a:solidFill>
                  <a:srgbClr val="F4F7FC"/>
                </a:solidFill>
                <a:latin typeface="Aptos"/>
              </a:rPr>
              <a:t>  Embedded inference and GGUF model support; no AI API required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1">
                <a:solidFill>
                  <a:srgbClr val="FFD078"/>
                </a:solidFill>
                <a:latin typeface="Aptos"/>
              </a:rPr>
              <a:t>Optional context</a:t>
            </a:r>
            <a:r>
              <a:rPr sz="1200">
                <a:solidFill>
                  <a:srgbClr val="F4F7FC"/>
                </a:solidFill>
                <a:latin typeface="Aptos"/>
              </a:rPr>
              <a:t>  Graph can read recent Chrome search queries from local profiles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1">
                <a:solidFill>
                  <a:srgbClr val="68E0CE"/>
                </a:solidFill>
                <a:latin typeface="Aptos"/>
              </a:rPr>
              <a:t>Network boundary</a:t>
            </a:r>
            <a:r>
              <a:rPr sz="1200">
                <a:solidFill>
                  <a:srgbClr val="F4F7FC"/>
                </a:solidFill>
                <a:latin typeface="Aptos"/>
              </a:rPr>
              <a:t>  Web text fetching is online; the Chrome bridge uses localhost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53328" y="2084831"/>
            <a:ext cx="5522976" cy="3401568"/>
          </a:xfrm>
          <a:prstGeom prst="roundRect">
            <a:avLst>
              <a:gd name="adj" fmla="val 12000"/>
            </a:avLst>
          </a:prstGeom>
          <a:solidFill>
            <a:srgbClr val="151D30"/>
          </a:solidFill>
          <a:ln w="12700">
            <a:solidFill>
              <a:srgbClr val="293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5936" y="2359152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B39BFF"/>
                </a:solidFill>
                <a:latin typeface="Aptos"/>
              </a:rPr>
              <a:t>GOOD 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5936" y="2779776"/>
            <a:ext cx="4846320" cy="2395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1">
                <a:solidFill>
                  <a:srgbClr val="73B9FF"/>
                </a:solidFill>
                <a:latin typeface="Aptos"/>
              </a:rPr>
              <a:t>Unify</a:t>
            </a:r>
            <a:r>
              <a:rPr sz="1200">
                <a:solidFill>
                  <a:srgbClr val="F4F7FC"/>
                </a:solidFill>
                <a:latin typeface="Aptos"/>
              </a:rPr>
              <a:t>  Make capture and search behavior consistent across entry points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1">
                <a:solidFill>
                  <a:srgbClr val="68E0CE"/>
                </a:solidFill>
                <a:latin typeface="Aptos"/>
              </a:rPr>
              <a:t>Preserve</a:t>
            </a:r>
            <a:r>
              <a:rPr sz="1200">
                <a:solidFill>
                  <a:srgbClr val="F4F7FC"/>
                </a:solidFill>
                <a:latin typeface="Aptos"/>
              </a:rPr>
              <a:t>  Persist richer capture context and search provenance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1">
                <a:solidFill>
                  <a:srgbClr val="FFD078"/>
                </a:solidFill>
                <a:latin typeface="Aptos"/>
              </a:rPr>
              <a:t>Complete</a:t>
            </a:r>
            <a:r>
              <a:rPr sz="1200">
                <a:solidFill>
                  <a:srgbClr val="F4F7FC"/>
                </a:solidFill>
                <a:latin typeface="Aptos"/>
              </a:rPr>
              <a:t>  Make PDF and image metadata extraction consistent end to end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1">
                <a:solidFill>
                  <a:srgbClr val="B39BFF"/>
                </a:solidFill>
                <a:latin typeface="Aptos"/>
              </a:rPr>
              <a:t>Harden</a:t>
            </a:r>
            <a:r>
              <a:rPr sz="1200">
                <a:solidFill>
                  <a:srgbClr val="F4F7FC"/>
                </a:solidFill>
                <a:latin typeface="Aptos"/>
              </a:rPr>
              <a:t>  Validate the privacy and offline story in real workflows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06440"/>
            <a:ext cx="10744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Moneta’s promise: less hunting through saved items, more value from what you already know.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10528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MONETA  /  PROJECT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2760" y="651052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A6B2C8"/>
                </a:solidFill>
                <a:latin typeface="Aptos"/>
              </a:rPr>
              <a:t>06  /  06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391656"/>
            <a:ext cx="10927080" cy="10972"/>
          </a:xfrm>
          <a:prstGeom prst="rect">
            <a:avLst/>
          </a:prstGeom>
          <a:solidFill>
            <a:srgbClr val="29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Moneta — Local Knowledge &amp; Bookmark Vault</dc:title>
  <dc:subject>Project overview: problem, workflow, features, architecture and technology stack</dc:subject>
  <dc:creator>Moneta</dc:creator>
  <cp:keywords>Moneta, local-first, Rust, Tauri, SQLite, knowledge graph, local AI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