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 snapToObjects="1">
      <p:cViewPr varScale="1">
        <p:scale>
          <a:sx n="36" d="100"/>
          <a:sy n="36" d="100"/>
        </p:scale>
        <p:origin x="98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68E0CE"/>
                </a:solidFill>
                <a:latin typeface="Aptos"/>
              </a:rPr>
              <a:t>MONETA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33856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A6B2C8"/>
                </a:solidFill>
                <a:latin typeface="Aptos"/>
              </a:rPr>
              <a:t>LOCAL KNOWLEDGE  •  BOOKMARK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6035040" cy="1517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3500" b="1">
                <a:solidFill>
                  <a:srgbClr val="F4F7FC"/>
                </a:solidFill>
                <a:latin typeface="Aptos"/>
              </a:rPr>
              <a:t>Remember more.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3500" b="1">
                <a:solidFill>
                  <a:srgbClr val="F4F7FC"/>
                </a:solidFill>
                <a:latin typeface="Aptos"/>
              </a:rPr>
              <a:t>Rediscover faster.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493008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0">
                <a:solidFill>
                  <a:srgbClr val="A6B2C8"/>
                </a:solidFill>
                <a:latin typeface="Aptos"/>
              </a:rPr>
              <a:t>Turn saved links, files, screenshots and notes into one searchable, connected workspace.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7548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RUST   ·   TAURI   ·   SQLITE   ·   LOCAL 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35240" y="1847088"/>
            <a:ext cx="1783080" cy="640080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418320" y="1645920"/>
            <a:ext cx="1152144" cy="841248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18320" y="2487168"/>
            <a:ext cx="1143000" cy="1298447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452360" y="1847088"/>
            <a:ext cx="182880" cy="2066544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452360" y="2487168"/>
            <a:ext cx="1965960" cy="1426464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52360" y="3913632"/>
            <a:ext cx="1874520" cy="804672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326880" y="3785615"/>
            <a:ext cx="1234440" cy="932689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315200" y="1527048"/>
            <a:ext cx="621792" cy="621792"/>
          </a:xfrm>
          <a:prstGeom prst="ellipse">
            <a:avLst/>
          </a:prstGeom>
          <a:solidFill>
            <a:srgbClr val="73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070848" y="2139696"/>
            <a:ext cx="749808" cy="749808"/>
          </a:xfrm>
          <a:prstGeom prst="ellipse">
            <a:avLst/>
          </a:prstGeom>
          <a:solidFill>
            <a:srgbClr val="68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287000" y="1371600"/>
            <a:ext cx="566928" cy="566928"/>
          </a:xfrm>
          <a:prstGeom prst="ellipse">
            <a:avLst/>
          </a:prstGeom>
          <a:solidFill>
            <a:srgbClr val="B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287000" y="3511296"/>
            <a:ext cx="658368" cy="658368"/>
          </a:xfrm>
          <a:prstGeom prst="ellipse">
            <a:avLst/>
          </a:prstGeom>
          <a:solidFill>
            <a:srgbClr val="73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32320" y="3602736"/>
            <a:ext cx="566928" cy="566928"/>
          </a:xfrm>
          <a:prstGeom prst="ellipse">
            <a:avLst/>
          </a:prstGeom>
          <a:solidFill>
            <a:srgbClr val="FFD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988552" y="4370832"/>
            <a:ext cx="603504" cy="603504"/>
          </a:xfrm>
          <a:prstGeom prst="ellipse">
            <a:avLst/>
          </a:prstGeom>
          <a:solidFill>
            <a:srgbClr val="B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68512" y="1737360"/>
            <a:ext cx="1463040" cy="1463040"/>
          </a:xfrm>
          <a:prstGeom prst="ellipse">
            <a:avLst/>
          </a:prstGeom>
          <a:solidFill>
            <a:srgbClr val="1A2540"/>
          </a:solidFill>
          <a:ln w="12700">
            <a:solidFill>
              <a:srgbClr val="68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68512" y="205740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3100" b="1">
                <a:solidFill>
                  <a:srgbClr val="F4F7FC"/>
                </a:solidFill>
                <a:latin typeface="Aptos"/>
              </a:rPr>
              <a:t>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5349240"/>
            <a:ext cx="39776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A6B2C8"/>
                </a:solidFill>
                <a:latin typeface="Aptos"/>
              </a:rPr>
              <a:t>Capture  →  Connect  →  Find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01  /  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01  /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Good ideas get saved. Their context gets lost.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Digital knowledge is scattered across tabs, documents, screenshots and quick notes.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7408" y="2295143"/>
            <a:ext cx="3520440" cy="205740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4414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73B9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907792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 dirty="0">
                <a:solidFill>
                  <a:srgbClr val="F4F7FC"/>
                </a:solidFill>
                <a:latin typeface="Aptos"/>
              </a:rPr>
              <a:t>Scattered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401568"/>
            <a:ext cx="29992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Bookmarks live in the browser; files and notes live somewhere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221992"/>
            <a:ext cx="3520440" cy="205740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59" y="24414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B39B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2907792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Weak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401568"/>
            <a:ext cx="29992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A saved item is hard to find when you remember the idea, not its title.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2221992"/>
            <a:ext cx="3520440" cy="205740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31352" y="24414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FFD078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2907792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Missing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3401568"/>
            <a:ext cx="29992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Time, extracted text and the reason an item mattered are easy to lose.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1888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68E0CE"/>
                </a:solidFill>
                <a:latin typeface="Aptos"/>
              </a:rPr>
              <a:t>The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773168"/>
            <a:ext cx="90525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F4F7FC"/>
                </a:solidFill>
                <a:latin typeface="Aptos"/>
              </a:rPr>
              <a:t>More collecting. Less connecting. More time spent searching.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02  /  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 dirty="0">
                <a:solidFill>
                  <a:srgbClr val="68E0CE"/>
                </a:solidFill>
                <a:latin typeface="Aptos"/>
              </a:rPr>
              <a:t>02  /  THE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A lightweight pipeline from capture to rediscovery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One local vault turns everyday captures into structured, searchable material.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04288"/>
            <a:ext cx="2487168" cy="239572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2542032"/>
            <a:ext cx="347472" cy="347472"/>
          </a:xfrm>
          <a:prstGeom prst="ellipse">
            <a:avLst/>
          </a:prstGeom>
          <a:solidFill>
            <a:srgbClr val="73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574036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B102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063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73B9FF"/>
                </a:solidFill>
                <a:latin typeface="Aptos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02152"/>
            <a:ext cx="204825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Web pages &amp; links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Selected text / notes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Files, EPUB &amp;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18688"/>
            <a:ext cx="301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2304288"/>
            <a:ext cx="2487168" cy="239572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30752" y="2542032"/>
            <a:ext cx="347472" cy="347472"/>
          </a:xfrm>
          <a:prstGeom prst="ellipse">
            <a:avLst/>
          </a:prstGeom>
          <a:solidFill>
            <a:srgbClr val="B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0752" y="2574036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B102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063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B39BFF"/>
                </a:solidFill>
                <a:latin typeface="Aptos"/>
              </a:rPr>
              <a:t>ENRICH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502152"/>
            <a:ext cx="204825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Extract text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OCR for images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Automatic tags &amp; 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7" y="3218688"/>
            <a:ext cx="301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2304288"/>
            <a:ext cx="2487168" cy="239572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3680" y="2542032"/>
            <a:ext cx="347472" cy="347472"/>
          </a:xfrm>
          <a:prstGeom prst="ellipse">
            <a:avLst/>
          </a:prstGeom>
          <a:solidFill>
            <a:srgbClr val="68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2574036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B1020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063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68E0CE"/>
                </a:solidFill>
                <a:latin typeface="Aptos"/>
              </a:rPr>
              <a:t>ORGANIZE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02152"/>
            <a:ext cx="204825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Markdown + YAML records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SQLite search index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Dates, sources &amp; tags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3218688"/>
            <a:ext cx="301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7152" y="2304288"/>
            <a:ext cx="2487168" cy="239572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36608" y="2542032"/>
            <a:ext cx="347472" cy="347472"/>
          </a:xfrm>
          <a:prstGeom prst="ellipse">
            <a:avLst/>
          </a:prstGeom>
          <a:solidFill>
            <a:srgbClr val="FFD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36608" y="2574036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B1020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8" y="3063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FFD078"/>
                </a:solidFill>
                <a:latin typeface="Aptos"/>
              </a:rPr>
              <a:t>REDISCOVER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3502152"/>
            <a:ext cx="204825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Keyword + semantic search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Related-bookmark graph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Wiki-link connections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102352"/>
            <a:ext cx="10954512" cy="658368"/>
          </a:xfrm>
          <a:prstGeom prst="roundRect">
            <a:avLst>
              <a:gd name="adj" fmla="val 12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" y="5285232"/>
            <a:ext cx="10378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The bookmark becomes a useful piece of a personal knowledge graph—not just another saved URL.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03  /  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74145"/>
            <a:ext cx="9692640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 / 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48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F4F7FC"/>
                </a:solidFill>
                <a:latin typeface="Aptos"/>
              </a:defRPr>
            </a:pPr>
            <a:r>
              <a:t>What Moneta must do?and how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6B2C8"/>
                </a:solidFill>
                <a:latin typeface="Aptos"/>
              </a:defRPr>
            </a:pPr>
            <a:r>
              <a:t>Ten specific requirements for capture, rediscovery and dependable local 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75488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A6B2C8"/>
                </a:solidFill>
                <a:latin typeface="Aptos"/>
              </a:defRPr>
            </a:pPr>
            <a:r>
              <a:t>MONETA  /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73952"/>
            <a:ext cx="91440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A6B2C8"/>
                </a:solidFill>
                <a:latin typeface="Aptos"/>
              </a:defRPr>
            </a:pPr>
            <a:r>
              <a:t>07  / 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01952"/>
            <a:ext cx="5376672" cy="4233672"/>
          </a:xfrm>
          <a:prstGeom prst="roundRect">
            <a:avLst>
              <a:gd name="adj" fmla="val 8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90488" y="1901952"/>
            <a:ext cx="5376672" cy="4233672"/>
          </a:xfrm>
          <a:prstGeom prst="roundRect">
            <a:avLst>
              <a:gd name="adj" fmla="val 8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66544"/>
            <a:ext cx="4864608" cy="28346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8E0CE"/>
                </a:solidFill>
                <a:latin typeface="Aptos"/>
              </a:defRPr>
            </a:pPr>
            <a:r>
              <a:t>FUNCTIONAL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66544"/>
            <a:ext cx="4864608" cy="28346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73B9FF"/>
                </a:solidFill>
                <a:latin typeface="Aptos"/>
              </a:defRPr>
            </a:pPr>
            <a:r>
              <a:t>NON-FUNCTIONAL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523744"/>
            <a:ext cx="4864608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t>FR-01 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743200"/>
            <a:ext cx="4864608" cy="3931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dirty="0"/>
              <a:t>Save selected web pages, files, screenshots and selected text as vault items.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209544"/>
            <a:ext cx="4864608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t>FR-02  Enrich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29000"/>
            <a:ext cx="4864608" cy="3931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t>Store capture time and source; extract document text and OCR image text when available.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895344"/>
            <a:ext cx="4864608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t>FR-03 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114800"/>
            <a:ext cx="4864608" cy="3931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t>Find saved items by title, tags or captured 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581144"/>
            <a:ext cx="4864608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t>FR-04  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800600"/>
            <a:ext cx="4864608" cy="3931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t>Show bookmarks and their wiki-link or similarity relationships in the graph.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266944"/>
            <a:ext cx="4864608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t>FR-05  Manage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486400"/>
            <a:ext cx="4864608" cy="3931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t>Browse, open, edit and delete saved bookmark records.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23744"/>
            <a:ext cx="4864608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3B9FF"/>
                </a:solidFill>
                <a:latin typeface="Aptos"/>
              </a:defRPr>
            </a:pPr>
            <a:r>
              <a:t>NFR-01  Privacy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743200"/>
            <a:ext cx="4864608" cy="3931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t>Local capture and search must not send vault content to a remote AI service.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09544"/>
            <a:ext cx="4864608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3B9FF"/>
                </a:solidFill>
                <a:latin typeface="Aptos"/>
              </a:defRPr>
            </a:pPr>
            <a:r>
              <a:t>NFR-02  Offline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429000"/>
            <a:ext cx="4864608" cy="3931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t>Core vault browsing and search must work without an internet connection.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895344"/>
            <a:ext cx="4864608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3B9FF"/>
                </a:solidFill>
                <a:latin typeface="Aptos"/>
              </a:defRPr>
            </a:pPr>
            <a:r>
              <a:t>NFR-03  Responsiveness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114800"/>
            <a:ext cx="4864608" cy="3931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t>Target search results within 2 seconds for a local vault of up to 5,000 items.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581144"/>
            <a:ext cx="4864608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3B9FF"/>
                </a:solidFill>
                <a:latin typeface="Aptos"/>
              </a:defRPr>
            </a:pPr>
            <a:r>
              <a:t>NFR-04  Durability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800600"/>
            <a:ext cx="4864608" cy="3931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t>A successfully saved item and its metadata must remain available after app restart.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266944"/>
            <a:ext cx="4864608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3B9FF"/>
                </a:solidFill>
                <a:latin typeface="Aptos"/>
              </a:defRPr>
            </a:pPr>
            <a:r>
              <a:t>NFR-05  Compatibility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486400"/>
            <a:ext cx="4864608" cy="3931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t>Support the Windows desktop app and a Chromium Manifest V3 extension.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199632"/>
            <a:ext cx="10607040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A6B2C8"/>
                </a:solidFill>
                <a:latin typeface="Aptos"/>
              </a:defRPr>
            </a:pPr>
            <a:r>
              <a:t>NFR performance value is a proposed acceptance target; verify on the supported test machine.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9692640" cy="144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 dirty="0">
                <a:solidFill>
                  <a:srgbClr val="68E0CE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68E0CE"/>
                </a:solidFill>
                <a:latin typeface="Aptos"/>
              </a:rPr>
              <a:t>4</a:t>
            </a:r>
            <a:r>
              <a:rPr sz="900" b="1" dirty="0">
                <a:solidFill>
                  <a:srgbClr val="68E0CE"/>
                </a:solidFill>
                <a:latin typeface="Aptos"/>
              </a:rPr>
              <a:t>  /  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Capture in the moment. Find by memory. Explore by connection.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Designed for fast personal knowledge capture with several ways back into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5166360" cy="361188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3317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79776"/>
            <a:ext cx="457200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73B9FF"/>
                </a:solidFill>
                <a:latin typeface="Aptos"/>
              </a:rPr>
              <a:t>Browser</a:t>
            </a:r>
            <a:r>
              <a:rPr sz="1300">
                <a:solidFill>
                  <a:srgbClr val="F4F7FC"/>
                </a:solidFill>
                <a:latin typeface="Aptos"/>
              </a:rPr>
              <a:t>  Chrome bookmark sync and selected-page capture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B39BFF"/>
                </a:solidFill>
                <a:latin typeface="Aptos"/>
              </a:rPr>
              <a:t>Desktop</a:t>
            </a:r>
            <a:r>
              <a:rPr sz="1300">
                <a:solidFill>
                  <a:srgbClr val="F4F7FC"/>
                </a:solidFill>
                <a:latin typeface="Aptos"/>
              </a:rPr>
              <a:t>  Hotkeys, selected text, screenshots and screen OCR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FFD078"/>
                </a:solidFill>
                <a:latin typeface="Aptos"/>
              </a:rPr>
              <a:t>Documents</a:t>
            </a:r>
            <a:r>
              <a:rPr sz="1300">
                <a:solidFill>
                  <a:srgbClr val="F4F7FC"/>
                </a:solidFill>
                <a:latin typeface="Aptos"/>
              </a:rPr>
              <a:t>  Text, EPUB, images and OCR; PDF text utilities are present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68E0CE"/>
                </a:solidFill>
                <a:latin typeface="Aptos"/>
              </a:rPr>
              <a:t>Organization</a:t>
            </a:r>
            <a:r>
              <a:rPr sz="1300">
                <a:solidFill>
                  <a:srgbClr val="F4F7FC"/>
                </a:solidFill>
                <a:latin typeface="Aptos"/>
              </a:rPr>
              <a:t>  Tags, timestamps, source paths and local vault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2057400"/>
            <a:ext cx="5468112" cy="361188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REDISCOVER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79776"/>
            <a:ext cx="4736592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73B9FF"/>
                </a:solidFill>
                <a:latin typeface="Aptos"/>
              </a:rPr>
              <a:t>Quick filtering</a:t>
            </a:r>
            <a:r>
              <a:rPr sz="1300">
                <a:solidFill>
                  <a:srgbClr val="F4F7FC"/>
                </a:solidFill>
                <a:latin typeface="Aptos"/>
              </a:rPr>
              <a:t>  Search bookmark titles, tags and captured text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B39BFF"/>
                </a:solidFill>
                <a:latin typeface="Aptos"/>
              </a:rPr>
              <a:t>Search engine</a:t>
            </a:r>
            <a:r>
              <a:rPr sz="1300">
                <a:solidFill>
                  <a:srgbClr val="F4F7FC"/>
                </a:solidFill>
                <a:latin typeface="Aptos"/>
              </a:rPr>
              <a:t>  Rust modules implement keyword, semantic and hybrid ranking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FFD078"/>
                </a:solidFill>
                <a:latin typeface="Aptos"/>
              </a:rPr>
              <a:t>Knowledge graph</a:t>
            </a:r>
            <a:r>
              <a:rPr sz="1300">
                <a:solidFill>
                  <a:srgbClr val="F4F7FC"/>
                </a:solidFill>
                <a:latin typeface="Aptos"/>
              </a:rPr>
              <a:t>  Explore wiki links and embedding-similar items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68E0CE"/>
                </a:solidFill>
                <a:latin typeface="Aptos"/>
              </a:rPr>
              <a:t>Context</a:t>
            </a:r>
            <a:r>
              <a:rPr sz="1300">
                <a:solidFill>
                  <a:srgbClr val="F4F7FC"/>
                </a:solidFill>
                <a:latin typeface="Aptos"/>
              </a:rPr>
              <a:t>  See capture time, source, previews and recent Chrome searches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704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A6B2C8"/>
                </a:solidFill>
                <a:latin typeface="Aptos"/>
              </a:rPr>
              <a:t>The UI and deeper search modules have different levels of integration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04  /  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9692640" cy="144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 dirty="0">
                <a:solidFill>
                  <a:srgbClr val="68E0CE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68E0CE"/>
                </a:solidFill>
                <a:latin typeface="Aptos"/>
              </a:rPr>
              <a:t>5</a:t>
            </a:r>
            <a:r>
              <a:rPr sz="900" b="1" dirty="0">
                <a:solidFill>
                  <a:srgbClr val="68E0CE"/>
                </a:solidFill>
                <a:latin typeface="Aptos"/>
              </a:rPr>
              <a:t>  / 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A Rust core, desktop UI and local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The design keeps capture, enrichment and retrieval close to the user’s machine.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084831"/>
            <a:ext cx="2432304" cy="265176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22576"/>
            <a:ext cx="204825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73B9FF"/>
                </a:solidFill>
                <a:latin typeface="Aptos"/>
              </a:rPr>
              <a:t>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07791"/>
            <a:ext cx="204825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HTML · CSS · JavaScript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Tauri 2 desktop shell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Chrome extension (MV3)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2084831"/>
            <a:ext cx="2468880" cy="265176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02736" y="2322576"/>
            <a:ext cx="208483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APPLICATION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2736" y="2907791"/>
            <a:ext cx="208483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Rust modules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Tauri commands + hotkeys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Axum / Tokio local bridge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084831"/>
            <a:ext cx="2468880" cy="265176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322576"/>
            <a:ext cx="208483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B39BFF"/>
                </a:solidFill>
                <a:latin typeface="Aptos"/>
              </a:rPr>
              <a:t>AI &amp;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907791"/>
            <a:ext cx="208483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Candle + tokenizers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Local GGUF models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SQLite · embeddings · OCR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2084831"/>
            <a:ext cx="2606040" cy="265176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2322576"/>
            <a:ext cx="2221992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FFD078"/>
                </a:solidFill>
                <a:latin typeface="Aptos"/>
              </a:rPr>
              <a:t>LOCAL VAULT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907791"/>
            <a:ext cx="222199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Markdown + YAML records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SQLite search index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Files, tags &amp; timestamps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3163824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163824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3163824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047488"/>
            <a:ext cx="10744200" cy="594360"/>
          </a:xfrm>
          <a:prstGeom prst="roundRect">
            <a:avLst>
              <a:gd name="adj" fmla="val 12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5230368"/>
            <a:ext cx="10332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4F7FC"/>
                </a:solidFill>
                <a:latin typeface="Aptos"/>
              </a:rPr>
              <a:t>Capture adapters  ·  local enrichment  ·  searchable vault  ·  graph &amp;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05  /  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74145"/>
            <a:ext cx="9692640" cy="15696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6</a:t>
            </a:r>
            <a:r>
              <a:rPr dirty="0"/>
              <a:t>  / 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48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F4F7FC"/>
                </a:solidFill>
                <a:latin typeface="Aptos"/>
              </a:defRPr>
            </a:pPr>
            <a:r>
              <a:t>Test cases for the core user journeys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6B2C8"/>
                </a:solidFill>
                <a:latin typeface="Aptos"/>
              </a:defRPr>
            </a:pPr>
            <a:r>
              <a:t>Acceptance scenarios spanning capture, search, graph navigation and persistence.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75488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A6B2C8"/>
                </a:solidFill>
                <a:latin typeface="Aptos"/>
              </a:defRPr>
            </a:pPr>
            <a:r>
              <a:t>MONETA  /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73952"/>
            <a:ext cx="91440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A6B2C8"/>
                </a:solidFill>
                <a:latin typeface="Aptos"/>
              </a:defRPr>
            </a:pPr>
            <a:r>
              <a:t>08  / 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20240"/>
            <a:ext cx="640080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20240"/>
            <a:ext cx="4069080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8152" y="1920240"/>
            <a:ext cx="5394960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10899648" cy="685800"/>
          </a:xfrm>
          <a:prstGeom prst="roundRect">
            <a:avLst>
              <a:gd name="adj" fmla="val 8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350008"/>
            <a:ext cx="71323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39BFF"/>
                </a:solidFill>
                <a:latin typeface="Aptos"/>
              </a:defRPr>
            </a:pPr>
            <a:r>
              <a:t>TC-01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350008"/>
            <a:ext cx="4023360" cy="4846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4F7FC"/>
                </a:solidFill>
                <a:latin typeface="Aptos"/>
              </a:defRPr>
            </a:pPr>
            <a:r>
              <a:t>Screenshot shortcut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2340863"/>
            <a:ext cx="5440680" cy="52120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A6B2C8"/>
                </a:solidFill>
                <a:latin typeface="Aptos"/>
              </a:defRPr>
            </a:pPr>
            <a:r>
              <a:t>Ctrl+Shift+S opens screen selection; the captured image is saved as a vault bookmark.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063240"/>
            <a:ext cx="71323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39BFF"/>
                </a:solidFill>
                <a:latin typeface="Aptos"/>
              </a:defRPr>
            </a:pPr>
            <a:r>
              <a:t>TC-02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63240"/>
            <a:ext cx="4023360" cy="4846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4F7FC"/>
                </a:solidFill>
                <a:latin typeface="Aptos"/>
              </a:defRPr>
            </a:pPr>
            <a:r>
              <a:t>File and image 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3054096"/>
            <a:ext cx="5440680" cy="52120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A6B2C8"/>
                </a:solidFill>
                <a:latin typeface="Aptos"/>
              </a:defRPr>
            </a:pPr>
            <a:r>
              <a:t>Selecting a supported file creates a bookmark; image OCR text is stored when text is detected.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3"/>
            <a:ext cx="10899648" cy="685800"/>
          </a:xfrm>
          <a:prstGeom prst="roundRect">
            <a:avLst>
              <a:gd name="adj" fmla="val 8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3776471"/>
            <a:ext cx="71323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39BFF"/>
                </a:solidFill>
                <a:latin typeface="Aptos"/>
              </a:defRPr>
            </a:pPr>
            <a:r>
              <a:t>TC-03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76471"/>
            <a:ext cx="4023360" cy="4846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4F7FC"/>
                </a:solidFill>
                <a:latin typeface="Aptos"/>
              </a:defRPr>
            </a:pPr>
            <a:r>
              <a:t>Selected-text shortcut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8152" y="3767327"/>
            <a:ext cx="5440680" cy="52120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A6B2C8"/>
                </a:solidFill>
                <a:latin typeface="Aptos"/>
              </a:defRPr>
            </a:pPr>
            <a:r>
              <a:t>Ctrl+Shift+B stores the selected text with available source-window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489703"/>
            <a:ext cx="71323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39BFF"/>
                </a:solidFill>
                <a:latin typeface="Aptos"/>
              </a:defRPr>
            </a:pPr>
            <a:r>
              <a:t>TC-04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489703"/>
            <a:ext cx="4023360" cy="4846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4F7FC"/>
                </a:solidFill>
                <a:latin typeface="Aptos"/>
              </a:defRPr>
            </a:pPr>
            <a:r>
              <a:t>Bookmark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88152" y="4480559"/>
            <a:ext cx="5440680" cy="52120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A6B2C8"/>
                </a:solidFill>
                <a:latin typeface="Aptos"/>
              </a:defRPr>
            </a:pPr>
            <a:r>
              <a:t>A query matching a title, tag or captured text returns the corresponding item.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138928"/>
            <a:ext cx="10899648" cy="685800"/>
          </a:xfrm>
          <a:prstGeom prst="roundRect">
            <a:avLst>
              <a:gd name="adj" fmla="val 8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" y="5202936"/>
            <a:ext cx="71323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39BFF"/>
                </a:solidFill>
                <a:latin typeface="Aptos"/>
              </a:defRPr>
            </a:pPr>
            <a:r>
              <a:t>TC-05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02936"/>
            <a:ext cx="4023360" cy="4846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4F7FC"/>
                </a:solidFill>
                <a:latin typeface="Aptos"/>
              </a:defRPr>
            </a:pPr>
            <a:r>
              <a:t>Graph and persistence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88152" y="5193792"/>
            <a:ext cx="5440680" cy="52120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A6B2C8"/>
                </a:solidFill>
                <a:latin typeface="Aptos"/>
              </a:defRPr>
            </a:pPr>
            <a:r>
              <a:t>Graph nodes open their bookmarks; saved records remain after restarting Moneta.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6172200"/>
            <a:ext cx="1060704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FFD078"/>
                </a:solidFill>
                <a:latin typeface="Aptos"/>
              </a:defRPr>
            </a:pPr>
            <a:r>
              <a:t>These are proposed acceptance cases; they are not a claim that every scenario has been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9692640" cy="144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 dirty="0">
                <a:solidFill>
                  <a:srgbClr val="68E0CE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68E0CE"/>
                </a:solidFill>
                <a:latin typeface="Aptos"/>
              </a:rPr>
              <a:t>7</a:t>
            </a:r>
            <a:r>
              <a:rPr sz="900" b="1" dirty="0">
                <a:solidFill>
                  <a:srgbClr val="68E0CE"/>
                </a:solidFill>
                <a:latin typeface="Aptos"/>
              </a:rPr>
              <a:t>  /  WHY LOCAL-FIRST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Useful knowledge—without making the cloud the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Keep personal material on-device while making it easier to reconnect later.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84831"/>
            <a:ext cx="5074920" cy="340156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359152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WHAT THE CODE SUPPORTS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79776"/>
            <a:ext cx="4526280" cy="2395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73B9FF"/>
                </a:solidFill>
                <a:latin typeface="Aptos"/>
              </a:rPr>
              <a:t>Local records</a:t>
            </a:r>
            <a:r>
              <a:rPr sz="1200">
                <a:solidFill>
                  <a:srgbClr val="F4F7FC"/>
                </a:solidFill>
                <a:latin typeface="Aptos"/>
              </a:rPr>
              <a:t>  Markdown/YAML bookmarks and a SQLite index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B39BFF"/>
                </a:solidFill>
                <a:latin typeface="Aptos"/>
              </a:rPr>
              <a:t>Local AI path</a:t>
            </a:r>
            <a:r>
              <a:rPr sz="1200">
                <a:solidFill>
                  <a:srgbClr val="F4F7FC"/>
                </a:solidFill>
                <a:latin typeface="Aptos"/>
              </a:rPr>
              <a:t>  Embedded inference and GGUF model support; no AI API required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FFD078"/>
                </a:solidFill>
                <a:latin typeface="Aptos"/>
              </a:rPr>
              <a:t>Optional context</a:t>
            </a:r>
            <a:r>
              <a:rPr sz="1200">
                <a:solidFill>
                  <a:srgbClr val="F4F7FC"/>
                </a:solidFill>
                <a:latin typeface="Aptos"/>
              </a:rPr>
              <a:t>  Graph can read recent Chrome search queries from local profiles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68E0CE"/>
                </a:solidFill>
                <a:latin typeface="Aptos"/>
              </a:rPr>
              <a:t>Network boundary</a:t>
            </a:r>
            <a:r>
              <a:rPr sz="1200">
                <a:solidFill>
                  <a:srgbClr val="F4F7FC"/>
                </a:solidFill>
                <a:latin typeface="Aptos"/>
              </a:rPr>
              <a:t>  Web text fetching is online; the Chrome bridge uses localhost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2084831"/>
            <a:ext cx="5522976" cy="340156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45936" y="2359152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B39BFF"/>
                </a:solidFill>
                <a:latin typeface="Aptos"/>
              </a:rPr>
              <a:t>GOOD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2779776"/>
            <a:ext cx="4846320" cy="2395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73B9FF"/>
                </a:solidFill>
                <a:latin typeface="Aptos"/>
              </a:rPr>
              <a:t>Unify</a:t>
            </a:r>
            <a:r>
              <a:rPr sz="1200">
                <a:solidFill>
                  <a:srgbClr val="F4F7FC"/>
                </a:solidFill>
                <a:latin typeface="Aptos"/>
              </a:rPr>
              <a:t>  Make capture and search behavior consistent across entry points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68E0CE"/>
                </a:solidFill>
                <a:latin typeface="Aptos"/>
              </a:rPr>
              <a:t>Preserve</a:t>
            </a:r>
            <a:r>
              <a:rPr sz="1200">
                <a:solidFill>
                  <a:srgbClr val="F4F7FC"/>
                </a:solidFill>
                <a:latin typeface="Aptos"/>
              </a:rPr>
              <a:t>  Persist richer capture context and search provenance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FFD078"/>
                </a:solidFill>
                <a:latin typeface="Aptos"/>
              </a:rPr>
              <a:t>Complete</a:t>
            </a:r>
            <a:r>
              <a:rPr sz="1200">
                <a:solidFill>
                  <a:srgbClr val="F4F7FC"/>
                </a:solidFill>
                <a:latin typeface="Aptos"/>
              </a:rPr>
              <a:t>  Make PDF and image metadata extraction consistent end to end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B39BFF"/>
                </a:solidFill>
                <a:latin typeface="Aptos"/>
              </a:rPr>
              <a:t>Harden</a:t>
            </a:r>
            <a:r>
              <a:rPr sz="1200">
                <a:solidFill>
                  <a:srgbClr val="F4F7FC"/>
                </a:solidFill>
                <a:latin typeface="Aptos"/>
              </a:rPr>
              <a:t>  Validate the privacy and offline story in real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06440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Moneta’s promise: less hunting through saved items, more value from what you already know.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06  /  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997</Words>
  <Application>Microsoft Office PowerPoint</Application>
  <PresentationFormat>Widescreen</PresentationFormat>
  <Paragraphs>164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Moneta — Local Knowledge &amp; Bookmark Vault</dc:title>
  <dc:subject>Project overview: problem, workflow, features, architecture and technology stack</dc:subject>
  <dc:creator>Moneta</dc:creator>
  <cp:keywords>Moneta, local-first, Rust, Tauri, SQLite, knowledge graph, local AI</cp:keywords>
  <dc:description>generated using python-pptx</dc:description>
  <cp:lastModifiedBy>Vivekananda Chowdary</cp:lastModifiedBy>
  <cp:revision>2</cp:revision>
  <dcterms:created xsi:type="dcterms:W3CDTF">2013-01-27T09:14:16Z</dcterms:created>
  <dcterms:modified xsi:type="dcterms:W3CDTF">2026-10-14T21:23:19Z</dcterms:modified>
  <cp:category/>
</cp:coreProperties>
</file>