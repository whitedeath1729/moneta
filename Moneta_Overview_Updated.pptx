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68E0CE"/>
                </a:solidFill>
                <a:latin typeface="Aptos"/>
              </a:rPr>
              <a:t>MONETA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33856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A6B2C8"/>
                </a:solidFill>
                <a:latin typeface="Aptos"/>
              </a:rPr>
              <a:t>LOCAL KNOWLEDGE  •  BOOKMARK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6035040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3500" b="1">
                <a:solidFill>
                  <a:srgbClr val="F4F7FC"/>
                </a:solidFill>
                <a:latin typeface="Aptos"/>
              </a:rPr>
              <a:t>Remember more.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3500" b="1">
                <a:solidFill>
                  <a:srgbClr val="F4F7FC"/>
                </a:solidFill>
                <a:latin typeface="Aptos"/>
              </a:rPr>
              <a:t>Rediscover faster.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493008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0" dirty="0">
                <a:solidFill>
                  <a:srgbClr val="A6B2C8"/>
                </a:solidFill>
                <a:latin typeface="Aptos"/>
              </a:rPr>
              <a:t>Turn saved links, files, screenshots and notes into one searchable, connected workspace.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7548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RUST   ·   TAURI   ·   SQLITE   ·   LOCAL 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35240" y="1847088"/>
            <a:ext cx="1783080" cy="640080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418320" y="1645920"/>
            <a:ext cx="1152144" cy="841248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18320" y="2487168"/>
            <a:ext cx="1143000" cy="1298447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452360" y="1847088"/>
            <a:ext cx="182880" cy="2066544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452360" y="2487168"/>
            <a:ext cx="1965960" cy="1426464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52360" y="3913632"/>
            <a:ext cx="1874520" cy="804672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326880" y="3785615"/>
            <a:ext cx="1234440" cy="932689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315200" y="1527048"/>
            <a:ext cx="621792" cy="621792"/>
          </a:xfrm>
          <a:prstGeom prst="ellipse">
            <a:avLst/>
          </a:prstGeom>
          <a:solidFill>
            <a:srgbClr val="73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070848" y="2139696"/>
            <a:ext cx="749808" cy="749808"/>
          </a:xfrm>
          <a:prstGeom prst="ellipse">
            <a:avLst/>
          </a:prstGeom>
          <a:solidFill>
            <a:srgbClr val="6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287000" y="1371600"/>
            <a:ext cx="566928" cy="566928"/>
          </a:xfrm>
          <a:prstGeom prst="ellipse">
            <a:avLst/>
          </a:prstGeom>
          <a:solidFill>
            <a:srgbClr val="B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287000" y="3511296"/>
            <a:ext cx="658368" cy="658368"/>
          </a:xfrm>
          <a:prstGeom prst="ellipse">
            <a:avLst/>
          </a:prstGeom>
          <a:solidFill>
            <a:srgbClr val="73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32320" y="3602736"/>
            <a:ext cx="566928" cy="566928"/>
          </a:xfrm>
          <a:prstGeom prst="ellipse">
            <a:avLst/>
          </a:prstGeom>
          <a:solidFill>
            <a:srgbClr val="FFD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88552" y="4370832"/>
            <a:ext cx="603504" cy="603504"/>
          </a:xfrm>
          <a:prstGeom prst="ellipse">
            <a:avLst/>
          </a:prstGeom>
          <a:solidFill>
            <a:srgbClr val="B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68512" y="1737360"/>
            <a:ext cx="1463040" cy="1463040"/>
          </a:xfrm>
          <a:prstGeom prst="ellipse">
            <a:avLst/>
          </a:prstGeom>
          <a:solidFill>
            <a:srgbClr val="1A2540"/>
          </a:solidFill>
          <a:ln w="12700">
            <a:solidFill>
              <a:srgbClr val="68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68512" y="205740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3100" b="1">
                <a:solidFill>
                  <a:srgbClr val="F4F7FC"/>
                </a:solidFill>
                <a:latin typeface="Aptos"/>
              </a:rP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5349240"/>
            <a:ext cx="39776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A6B2C8"/>
                </a:solidFill>
                <a:latin typeface="Aptos"/>
              </a:rPr>
              <a:t>Capture  →  Connect  →  Find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01  /  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01  /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Good ideas get saved. Their context gets lost.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Digital knowledge is scattered across tabs, documents, screenshots and quick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21992"/>
            <a:ext cx="3520440" cy="205740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4414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73B9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907792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Scattered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01568"/>
            <a:ext cx="29992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dirty="0">
                <a:solidFill>
                  <a:srgbClr val="A6B2C8"/>
                </a:solidFill>
                <a:latin typeface="Aptos"/>
              </a:rPr>
              <a:t>Bookmarks live in the browser; files and notes live somewhere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221992"/>
            <a:ext cx="3520440" cy="205740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24414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B39B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907792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Weak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401568"/>
            <a:ext cx="2999232" cy="640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dirty="0">
                <a:solidFill>
                  <a:srgbClr val="A6B2C8"/>
                </a:solidFill>
                <a:latin typeface="Aptos"/>
              </a:rPr>
              <a:t>A saved item is hard to find when you remember the idea</a:t>
            </a:r>
            <a:r>
              <a:rPr lang="en-US" sz="1300" b="0" dirty="0">
                <a:solidFill>
                  <a:srgbClr val="A6B2C8"/>
                </a:solidFill>
                <a:latin typeface="Aptos"/>
              </a:rPr>
              <a:t> but</a:t>
            </a:r>
            <a:r>
              <a:rPr sz="1300" b="0" dirty="0">
                <a:solidFill>
                  <a:srgbClr val="A6B2C8"/>
                </a:solidFill>
                <a:latin typeface="Aptos"/>
              </a:rPr>
              <a:t> not its title</a:t>
            </a:r>
            <a:r>
              <a:rPr lang="en-US" sz="1300" b="0" dirty="0">
                <a:solidFill>
                  <a:srgbClr val="A6B2C8"/>
                </a:solidFill>
                <a:latin typeface="Aptos"/>
              </a:rPr>
              <a:t> or stored location</a:t>
            </a:r>
            <a:r>
              <a:rPr sz="1300" b="0" dirty="0">
                <a:solidFill>
                  <a:srgbClr val="A6B2C8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2221992"/>
            <a:ext cx="3520440" cy="205740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31352" y="24414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FFD078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2907792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Missing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3401568"/>
            <a:ext cx="29992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Time, extracted text and the reason an item mattered are easy to lose.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1888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68E0CE"/>
                </a:solidFill>
                <a:latin typeface="Aptos"/>
              </a:rPr>
              <a:t>The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4709161"/>
            <a:ext cx="9052560" cy="652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lang="en-US" sz="2000" b="1" dirty="0">
                <a:solidFill>
                  <a:srgbClr val="F4F7FC"/>
                </a:solidFill>
                <a:latin typeface="Aptos"/>
              </a:rPr>
              <a:t>Collection of bookmarks in a quantity that leads to hoarding. Sensible and timely retrieval of required resources is hard to achieve.</a:t>
            </a:r>
            <a:endParaRPr sz="2000" b="1" dirty="0">
              <a:solidFill>
                <a:srgbClr val="F4F7F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02  /  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02  /  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 dirty="0">
                <a:solidFill>
                  <a:srgbClr val="F4F7FC"/>
                </a:solidFill>
                <a:latin typeface="Aptos"/>
              </a:rPr>
              <a:t>A lightweight pipeline from capture to rediscovery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dirty="0">
                <a:solidFill>
                  <a:srgbClr val="A6B2C8"/>
                </a:solidFill>
                <a:latin typeface="Aptos"/>
              </a:rPr>
              <a:t>One local vault turns everyday captures into structured, searchable material.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2542032"/>
            <a:ext cx="347472" cy="347472"/>
          </a:xfrm>
          <a:prstGeom prst="ellipse">
            <a:avLst/>
          </a:prstGeom>
          <a:solidFill>
            <a:srgbClr val="73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574036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73B9FF"/>
                </a:solidFill>
                <a:latin typeface="Aptos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02152"/>
            <a:ext cx="20482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Web pages &amp; links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Selected text / notes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Files, EPUB &amp;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18688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30752" y="2542032"/>
            <a:ext cx="347472" cy="347472"/>
          </a:xfrm>
          <a:prstGeom prst="ellipse">
            <a:avLst/>
          </a:prstGeom>
          <a:solidFill>
            <a:srgbClr val="B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2574036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B39BFF"/>
                </a:solidFill>
                <a:latin typeface="Aptos"/>
              </a:rPr>
              <a:t>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502152"/>
            <a:ext cx="20482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Extract text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OCR for images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Automatic tags &amp;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7" y="3218688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3680" y="2542032"/>
            <a:ext cx="347472" cy="347472"/>
          </a:xfrm>
          <a:prstGeom prst="ellipse">
            <a:avLst/>
          </a:prstGeom>
          <a:solidFill>
            <a:srgbClr val="6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574036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68E0CE"/>
                </a:solidFill>
                <a:latin typeface="Aptos"/>
              </a:rPr>
              <a:t>ORGANIZE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02152"/>
            <a:ext cx="20482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Markdown + YAML records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SQLite search index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Dates, sources &amp; tags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3218688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36608" y="2542032"/>
            <a:ext cx="347472" cy="347472"/>
          </a:xfrm>
          <a:prstGeom prst="ellipse">
            <a:avLst/>
          </a:prstGeom>
          <a:solidFill>
            <a:srgbClr val="FFD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36608" y="2574036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FFD078"/>
                </a:solidFill>
                <a:latin typeface="Aptos"/>
              </a:rPr>
              <a:t>REDISCOVER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3502152"/>
            <a:ext cx="20482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Keyword + semantic search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Related-bookmark graph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Wiki-link connections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285232"/>
            <a:ext cx="10378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dirty="0">
                <a:solidFill>
                  <a:srgbClr val="F4F7FC"/>
                </a:solidFill>
                <a:latin typeface="Aptos"/>
              </a:rPr>
              <a:t>The bookmark becomes a useful piece of a personal knowledge graph—not just another saved URL.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03  /  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03  / 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Capture in the moment. Find by memory. Explore by connection.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Designed for fast personal knowledge capture with several ways back into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5166360" cy="361188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3317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79776"/>
            <a:ext cx="4572000" cy="2579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73B9FF"/>
                </a:solidFill>
                <a:latin typeface="Aptos"/>
              </a:rPr>
              <a:t>Browser</a:t>
            </a:r>
            <a:r>
              <a:rPr sz="1600" dirty="0">
                <a:solidFill>
                  <a:srgbClr val="F4F7FC"/>
                </a:solidFill>
                <a:latin typeface="Aptos"/>
              </a:rPr>
              <a:t>  Chrome bookmark sync and selected-page capture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B39BFF"/>
                </a:solidFill>
                <a:latin typeface="Aptos"/>
              </a:rPr>
              <a:t>Desktop</a:t>
            </a:r>
            <a:r>
              <a:rPr sz="1600" dirty="0">
                <a:solidFill>
                  <a:srgbClr val="F4F7FC"/>
                </a:solidFill>
                <a:latin typeface="Aptos"/>
              </a:rPr>
              <a:t>  Hotkeys, selected text, screenshots and screen OCR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FFD078"/>
                </a:solidFill>
                <a:latin typeface="Aptos"/>
              </a:rPr>
              <a:t>Documents</a:t>
            </a:r>
            <a:r>
              <a:rPr sz="1600" dirty="0">
                <a:solidFill>
                  <a:srgbClr val="F4F7FC"/>
                </a:solidFill>
                <a:latin typeface="Aptos"/>
              </a:rPr>
              <a:t>  Text, EPUB, images and OCR; PDF text utilities are present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68E0CE"/>
                </a:solidFill>
                <a:latin typeface="Aptos"/>
              </a:rPr>
              <a:t>Organization</a:t>
            </a:r>
            <a:r>
              <a:rPr sz="1600" dirty="0">
                <a:solidFill>
                  <a:srgbClr val="F4F7FC"/>
                </a:solidFill>
                <a:latin typeface="Aptos"/>
              </a:rPr>
              <a:t>  Tags, timestamps, source paths and local vault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2057400"/>
            <a:ext cx="5468112" cy="361188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REDISCOVER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79776"/>
            <a:ext cx="4736592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73B9FF"/>
                </a:solidFill>
                <a:latin typeface="Aptos"/>
              </a:rPr>
              <a:t>Quick filtering</a:t>
            </a:r>
            <a:r>
              <a:rPr sz="1300">
                <a:solidFill>
                  <a:srgbClr val="F4F7FC"/>
                </a:solidFill>
                <a:latin typeface="Aptos"/>
              </a:rPr>
              <a:t>  Search bookmark titles, tags and captured text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B39BFF"/>
                </a:solidFill>
                <a:latin typeface="Aptos"/>
              </a:rPr>
              <a:t>Search engine</a:t>
            </a:r>
            <a:r>
              <a:rPr sz="1300">
                <a:solidFill>
                  <a:srgbClr val="F4F7FC"/>
                </a:solidFill>
                <a:latin typeface="Aptos"/>
              </a:rPr>
              <a:t>  Rust modules implement keyword, semantic and hybrid ranking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FFD078"/>
                </a:solidFill>
                <a:latin typeface="Aptos"/>
              </a:rPr>
              <a:t>Knowledge graph</a:t>
            </a:r>
            <a:r>
              <a:rPr sz="1300">
                <a:solidFill>
                  <a:srgbClr val="F4F7FC"/>
                </a:solidFill>
                <a:latin typeface="Aptos"/>
              </a:rPr>
              <a:t>  Explore wiki links and embedding-similar items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68E0CE"/>
                </a:solidFill>
                <a:latin typeface="Aptos"/>
              </a:rPr>
              <a:t>Context</a:t>
            </a:r>
            <a:r>
              <a:rPr sz="1300">
                <a:solidFill>
                  <a:srgbClr val="F4F7FC"/>
                </a:solidFill>
                <a:latin typeface="Aptos"/>
              </a:rPr>
              <a:t>  See capture time, source, previews and recent Chrome searches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704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A6B2C8"/>
                </a:solidFill>
                <a:latin typeface="Aptos"/>
              </a:rPr>
              <a:t>The UI and deeper search modules have different levels of integration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04  /  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04  / 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A Rust core, desktop UI and local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The design keeps capture, enrichment and retrieval close to the user’s machine.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84831"/>
            <a:ext cx="2432304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22576"/>
            <a:ext cx="2048256" cy="320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dirty="0">
                <a:solidFill>
                  <a:srgbClr val="73B9FF"/>
                </a:solidFill>
                <a:latin typeface="Aptos"/>
              </a:rPr>
              <a:t>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7791"/>
            <a:ext cx="204825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HTML · CSS · JavaScript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Tauri 2 desktop shell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Chrome extension (MV3)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2084831"/>
            <a:ext cx="2468880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02736" y="2322576"/>
            <a:ext cx="2084832" cy="652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dirty="0">
                <a:solidFill>
                  <a:srgbClr val="68E0CE"/>
                </a:solidFill>
                <a:latin typeface="Aptos"/>
              </a:rPr>
              <a:t>APPLICATION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122676"/>
            <a:ext cx="208483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Rust modules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Tauri commands + hotkeys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Axum / Tokio local 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84831"/>
            <a:ext cx="2468880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322576"/>
            <a:ext cx="2084832" cy="320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dirty="0">
                <a:solidFill>
                  <a:srgbClr val="B39BFF"/>
                </a:solidFill>
                <a:latin typeface="Aptos"/>
              </a:rPr>
              <a:t>AI &amp;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907791"/>
            <a:ext cx="208483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Candle + tokenizers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Local GGUF models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SQLite · embeddings · OCR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2084831"/>
            <a:ext cx="2606040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2322576"/>
            <a:ext cx="2221992" cy="320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dirty="0">
                <a:solidFill>
                  <a:srgbClr val="FFD078"/>
                </a:solidFill>
                <a:latin typeface="Aptos"/>
              </a:rPr>
              <a:t>LOCAL VAULT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907791"/>
            <a:ext cx="222199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Markdown + YAML records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SQLite search index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Files, tags &amp; timestamps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3163824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163824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3163824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05  /  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05  /  WHY LOCAL-FIRST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44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lang="en-US" sz="2800" b="1" dirty="0">
                <a:solidFill>
                  <a:srgbClr val="F4F7FC"/>
                </a:solidFill>
                <a:latin typeface="Aptos"/>
              </a:rPr>
              <a:t>Data-Privacy with a completely Offline System</a:t>
            </a:r>
            <a:endParaRPr sz="2800" b="1" dirty="0">
              <a:solidFill>
                <a:srgbClr val="F4F7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dirty="0">
                <a:solidFill>
                  <a:srgbClr val="A6B2C8"/>
                </a:solidFill>
                <a:latin typeface="Aptos"/>
              </a:rPr>
              <a:t>Keep personal material on-device while making it easier to reconnect later.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84831"/>
            <a:ext cx="10863072" cy="340156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359152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WHAT THE CODE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79776"/>
            <a:ext cx="10287000" cy="157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dirty="0">
                <a:solidFill>
                  <a:srgbClr val="73B9FF"/>
                </a:solidFill>
                <a:latin typeface="Aptos"/>
              </a:rPr>
              <a:t>Local records</a:t>
            </a:r>
            <a:r>
              <a:rPr dirty="0">
                <a:solidFill>
                  <a:srgbClr val="F4F7FC"/>
                </a:solidFill>
                <a:latin typeface="Aptos"/>
              </a:rPr>
              <a:t>  Markdown/YAML bookmarks and a SQLite index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dirty="0">
                <a:solidFill>
                  <a:srgbClr val="B39BFF"/>
                </a:solidFill>
                <a:latin typeface="Aptos"/>
              </a:rPr>
              <a:t>Local AI path</a:t>
            </a:r>
            <a:r>
              <a:rPr dirty="0">
                <a:solidFill>
                  <a:srgbClr val="F4F7FC"/>
                </a:solidFill>
                <a:latin typeface="Aptos"/>
              </a:rPr>
              <a:t>  Embedded inference and GGUF model support; no AI API required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dirty="0">
                <a:solidFill>
                  <a:srgbClr val="FFD078"/>
                </a:solidFill>
                <a:latin typeface="Aptos"/>
              </a:rPr>
              <a:t>Optional context</a:t>
            </a:r>
            <a:r>
              <a:rPr dirty="0">
                <a:solidFill>
                  <a:srgbClr val="F4F7FC"/>
                </a:solidFill>
                <a:latin typeface="Aptos"/>
              </a:rPr>
              <a:t>  Graph can read recent Chrome search queries from local profiles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dirty="0">
                <a:solidFill>
                  <a:srgbClr val="68E0CE"/>
                </a:solidFill>
                <a:latin typeface="Aptos"/>
              </a:rPr>
              <a:t>Network boundary</a:t>
            </a:r>
            <a:r>
              <a:rPr dirty="0">
                <a:solidFill>
                  <a:srgbClr val="F4F7FC"/>
                </a:solidFill>
                <a:latin typeface="Aptos"/>
              </a:rPr>
              <a:t>  Web text fetching is online; the Chrome bridge uses localhost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06  /  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692640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06  / 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8264"/>
            <a:ext cx="1097280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F4F7FC"/>
                </a:solidFill>
                <a:latin typeface="Aptos"/>
              </a:defRPr>
            </a:pPr>
            <a:r>
              <a:rPr dirty="0"/>
              <a:t>What Moneta must do?</a:t>
            </a:r>
            <a:r>
              <a:rPr lang="en-US" dirty="0"/>
              <a:t> A</a:t>
            </a:r>
            <a:r>
              <a:rPr dirty="0"/>
              <a:t>nd how well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75488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MONETA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73952"/>
            <a:ext cx="91440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07  / 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54584"/>
            <a:ext cx="10927080" cy="4781040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96112" y="1599327"/>
            <a:ext cx="4864608" cy="32624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8E0CE"/>
                </a:solidFill>
                <a:latin typeface="Aptos"/>
              </a:defRPr>
            </a:pPr>
            <a:r>
              <a:rPr sz="2000" dirty="0"/>
              <a:t>FUNCTIONAL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95355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FR-01 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29307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S</a:t>
            </a:r>
            <a:r>
              <a:rPr lang="en-US" sz="1300" dirty="0"/>
              <a:t>ystem must allow the user to s</a:t>
            </a:r>
            <a:r>
              <a:rPr sz="1300" dirty="0"/>
              <a:t>ave selected web pages, files, screenshots and selected text as vault items.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905627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FR-02  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139579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Store capture time and source; extract document text and OCR image text when available.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646806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FR-03 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910460"/>
            <a:ext cx="4864608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400" dirty="0"/>
              <a:t>Find </a:t>
            </a:r>
            <a:r>
              <a:rPr lang="en-US" sz="1400" dirty="0"/>
              <a:t>related and </a:t>
            </a:r>
            <a:r>
              <a:rPr sz="1400" dirty="0"/>
              <a:t>saved items by title, tags or captured 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242520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FR-04  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502164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Show bookmarks and their wiki-link or similarity relationships in the graph.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053572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FR-05  Manage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295867"/>
            <a:ext cx="4864608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Browse, open, edit and delete saved bookmark records.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CC429D-E40F-8DA6-AB05-9E1F928DAEBC}"/>
              </a:ext>
            </a:extLst>
          </p:cNvPr>
          <p:cNvSpPr txBox="1"/>
          <p:nvPr/>
        </p:nvSpPr>
        <p:spPr>
          <a:xfrm>
            <a:off x="6231636" y="2107535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</a:t>
            </a:r>
            <a:r>
              <a:rPr lang="en-US" sz="1600" dirty="0"/>
              <a:t>6</a:t>
            </a:r>
            <a:r>
              <a:rPr sz="1600" dirty="0"/>
              <a:t>  </a:t>
            </a:r>
            <a:r>
              <a:rPr lang="en-US" sz="1600" dirty="0"/>
              <a:t>Embeddings</a:t>
            </a:r>
            <a:endParaRPr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04C401-A73B-1B2B-4FE6-E47C7AAED7C2}"/>
              </a:ext>
            </a:extLst>
          </p:cNvPr>
          <p:cNvSpPr txBox="1"/>
          <p:nvPr/>
        </p:nvSpPr>
        <p:spPr>
          <a:xfrm>
            <a:off x="6231636" y="2349830"/>
            <a:ext cx="4864608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lang="en-US" sz="1300" dirty="0"/>
              <a:t>Using a </a:t>
            </a:r>
            <a:endParaRPr sz="13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CB5F78-7F61-C4B6-531C-C46AFE025DF4}"/>
              </a:ext>
            </a:extLst>
          </p:cNvPr>
          <p:cNvSpPr txBox="1"/>
          <p:nvPr/>
        </p:nvSpPr>
        <p:spPr>
          <a:xfrm>
            <a:off x="6231636" y="2773283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</a:t>
            </a:r>
            <a:r>
              <a:rPr lang="en-US" sz="1600" dirty="0"/>
              <a:t>7</a:t>
            </a:r>
            <a:r>
              <a:rPr sz="1600" dirty="0"/>
              <a:t>  </a:t>
            </a:r>
            <a:r>
              <a:rPr lang="en-US" sz="1600" dirty="0"/>
              <a:t>Tagging</a:t>
            </a:r>
            <a:endParaRPr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DFF4C6-A2BD-B92C-9EE7-6DEAA5FAACDC}"/>
              </a:ext>
            </a:extLst>
          </p:cNvPr>
          <p:cNvSpPr txBox="1"/>
          <p:nvPr/>
        </p:nvSpPr>
        <p:spPr>
          <a:xfrm>
            <a:off x="6231636" y="3015578"/>
            <a:ext cx="4864608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Browse, open, edit and delete saved bookmark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962BD-CC59-B214-3F9F-C5A054C4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BDB32-0B26-67AF-D615-6C1AFF64C2A6}"/>
              </a:ext>
            </a:extLst>
          </p:cNvPr>
          <p:cNvSpPr txBox="1"/>
          <p:nvPr/>
        </p:nvSpPr>
        <p:spPr>
          <a:xfrm>
            <a:off x="621792" y="347472"/>
            <a:ext cx="9692640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06  /  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71BF6-82FF-AD1A-344E-0685620670BA}"/>
              </a:ext>
            </a:extLst>
          </p:cNvPr>
          <p:cNvSpPr txBox="1"/>
          <p:nvPr/>
        </p:nvSpPr>
        <p:spPr>
          <a:xfrm>
            <a:off x="621792" y="778264"/>
            <a:ext cx="1097280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F4F7FC"/>
                </a:solidFill>
                <a:latin typeface="Aptos"/>
              </a:defRPr>
            </a:pPr>
            <a:r>
              <a:rPr dirty="0"/>
              <a:t>What Moneta must do?</a:t>
            </a:r>
            <a:r>
              <a:rPr lang="en-US" dirty="0"/>
              <a:t> </a:t>
            </a:r>
            <a:r>
              <a:rPr dirty="0"/>
              <a:t>and how well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ABB788-E80B-32FD-DD91-85586AC7A032}"/>
              </a:ext>
            </a:extLst>
          </p:cNvPr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439CE6-74FC-C49F-14F1-5BE71E1DC532}"/>
              </a:ext>
            </a:extLst>
          </p:cNvPr>
          <p:cNvSpPr txBox="1"/>
          <p:nvPr/>
        </p:nvSpPr>
        <p:spPr>
          <a:xfrm>
            <a:off x="640080" y="6473952"/>
            <a:ext cx="475488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MONETA  /  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782CF6-060B-E22E-AC62-E7B9D5BD74B5}"/>
              </a:ext>
            </a:extLst>
          </p:cNvPr>
          <p:cNvSpPr txBox="1"/>
          <p:nvPr/>
        </p:nvSpPr>
        <p:spPr>
          <a:xfrm>
            <a:off x="10652760" y="6473952"/>
            <a:ext cx="91440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07  /  08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3A8AE9B-F169-95C3-A0D3-9331CFE3AEFA}"/>
              </a:ext>
            </a:extLst>
          </p:cNvPr>
          <p:cNvSpPr/>
          <p:nvPr/>
        </p:nvSpPr>
        <p:spPr>
          <a:xfrm>
            <a:off x="640080" y="1346454"/>
            <a:ext cx="10927080" cy="4878324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23388-D692-1699-9AAD-BA266733CD15}"/>
              </a:ext>
            </a:extLst>
          </p:cNvPr>
          <p:cNvSpPr txBox="1"/>
          <p:nvPr/>
        </p:nvSpPr>
        <p:spPr>
          <a:xfrm>
            <a:off x="1231392" y="1505659"/>
            <a:ext cx="4864608" cy="32624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3B9FF"/>
                </a:solidFill>
                <a:latin typeface="Aptos"/>
              </a:defRPr>
            </a:pPr>
            <a:r>
              <a:rPr sz="2000" dirty="0"/>
              <a:t>NON-FUNCTIONAL REQUIREMENTS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C5AF40-287F-9C37-369D-E42CBAC68F8E}"/>
              </a:ext>
            </a:extLst>
          </p:cNvPr>
          <p:cNvSpPr txBox="1"/>
          <p:nvPr/>
        </p:nvSpPr>
        <p:spPr>
          <a:xfrm>
            <a:off x="1231392" y="2017312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rPr sz="1600" dirty="0"/>
              <a:t>NFR-01  Privacy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EDE171-7A6A-C49A-02AA-2AB2B0FEBA53}"/>
              </a:ext>
            </a:extLst>
          </p:cNvPr>
          <p:cNvSpPr txBox="1"/>
          <p:nvPr/>
        </p:nvSpPr>
        <p:spPr>
          <a:xfrm>
            <a:off x="1231392" y="2239221"/>
            <a:ext cx="4864608" cy="38779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lang="en-US" sz="1200" dirty="0"/>
              <a:t>Local capture and search must not send vault content to a remote AI service.</a:t>
            </a:r>
            <a:endParaRPr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C21574-F774-0EA8-8717-09B11EE803C4}"/>
              </a:ext>
            </a:extLst>
          </p:cNvPr>
          <p:cNvSpPr txBox="1"/>
          <p:nvPr/>
        </p:nvSpPr>
        <p:spPr>
          <a:xfrm>
            <a:off x="1216152" y="2758913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rPr sz="1600" dirty="0"/>
              <a:t>NFR-02  Offline use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4AAD28-3592-FFFC-CC3A-AFBA70D055D8}"/>
              </a:ext>
            </a:extLst>
          </p:cNvPr>
          <p:cNvSpPr txBox="1"/>
          <p:nvPr/>
        </p:nvSpPr>
        <p:spPr>
          <a:xfrm>
            <a:off x="1208532" y="2965433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Core vault browsing and search must work without an internet connection.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866149-D467-F1C1-F185-92E49F5FA527}"/>
              </a:ext>
            </a:extLst>
          </p:cNvPr>
          <p:cNvSpPr txBox="1"/>
          <p:nvPr/>
        </p:nvSpPr>
        <p:spPr>
          <a:xfrm>
            <a:off x="1223772" y="3486578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rPr sz="1600" dirty="0"/>
              <a:t>NFR-03  Responsiveness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DDC443-C347-7539-57F1-6334FCA10424}"/>
              </a:ext>
            </a:extLst>
          </p:cNvPr>
          <p:cNvSpPr txBox="1"/>
          <p:nvPr/>
        </p:nvSpPr>
        <p:spPr>
          <a:xfrm>
            <a:off x="1223772" y="3720530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Target search results within 2 seconds for a local vault of up to 5,000 items.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E2E7EB-9AC0-86E8-1F4C-A38180076199}"/>
              </a:ext>
            </a:extLst>
          </p:cNvPr>
          <p:cNvSpPr txBox="1"/>
          <p:nvPr/>
        </p:nvSpPr>
        <p:spPr>
          <a:xfrm>
            <a:off x="1216152" y="4316813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rPr sz="1600" dirty="0"/>
              <a:t>NFR-04  Durability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4AECC0-3183-C94B-0607-082473A99040}"/>
              </a:ext>
            </a:extLst>
          </p:cNvPr>
          <p:cNvSpPr txBox="1"/>
          <p:nvPr/>
        </p:nvSpPr>
        <p:spPr>
          <a:xfrm>
            <a:off x="1208532" y="4652260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A successfully saved item and its metadata must remain available after app restart.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BABAB7-AA3E-39B9-55EE-B725821ED6A4}"/>
              </a:ext>
            </a:extLst>
          </p:cNvPr>
          <p:cNvSpPr txBox="1"/>
          <p:nvPr/>
        </p:nvSpPr>
        <p:spPr>
          <a:xfrm>
            <a:off x="1216152" y="5246858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rPr sz="1600" dirty="0"/>
              <a:t>NFR-05  Compatibility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59F09D-7C30-1F18-4169-5364B455E3E2}"/>
              </a:ext>
            </a:extLst>
          </p:cNvPr>
          <p:cNvSpPr txBox="1"/>
          <p:nvPr/>
        </p:nvSpPr>
        <p:spPr>
          <a:xfrm>
            <a:off x="1216152" y="5480810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Support the Windows desktop app and a Chromium Manifest V3 extension.</a:t>
            </a:r>
          </a:p>
        </p:txBody>
      </p:sp>
    </p:spTree>
    <p:extLst>
      <p:ext uri="{BB962C8B-B14F-4D97-AF65-F5344CB8AC3E}">
        <p14:creationId xmlns:p14="http://schemas.microsoft.com/office/powerpoint/2010/main" val="105078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692640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07  / 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F4F7FC"/>
                </a:solidFill>
                <a:latin typeface="Aptos"/>
              </a:defRPr>
            </a:pPr>
            <a:r>
              <a:t>Test cases for the core user journeys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6B2C8"/>
                </a:solidFill>
                <a:latin typeface="Aptos"/>
              </a:defRPr>
            </a:pPr>
            <a:r>
              <a:t>Acceptance scenarios spanning capture, search, graph navigation and persistence.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75488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MONETA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73952"/>
            <a:ext cx="91440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08  /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64008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20240"/>
            <a:ext cx="406908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152" y="1920240"/>
            <a:ext cx="539496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10899648" cy="685800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350008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rPr dirty="0"/>
              <a:t>TC-01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83063"/>
            <a:ext cx="402336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rPr sz="1300" dirty="0"/>
              <a:t>Screenshot shortcut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392178"/>
            <a:ext cx="544068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rPr sz="1300" dirty="0" err="1"/>
              <a:t>Ctrl+Shift+S</a:t>
            </a:r>
            <a:r>
              <a:rPr sz="1300" dirty="0"/>
              <a:t> opens screen selection; the captured image is saved as a vault bookmark.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63240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96295"/>
            <a:ext cx="402336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rPr sz="1300" dirty="0"/>
              <a:t>File and image 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3105411"/>
            <a:ext cx="544068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rPr sz="1300" dirty="0"/>
              <a:t>Selecting a supported file creates a bookmark; image OCR text is stored when text is detected.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3"/>
            <a:ext cx="10899648" cy="685800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3776471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09526"/>
            <a:ext cx="402336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rPr sz="1300" dirty="0"/>
              <a:t>Selected-text shortcut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8152" y="3918670"/>
            <a:ext cx="544068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rPr sz="1300" dirty="0" err="1"/>
              <a:t>Ctrl+Shift+B</a:t>
            </a:r>
            <a:r>
              <a:rPr sz="1300" dirty="0"/>
              <a:t> stores the selected text with available source-window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489703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622758"/>
            <a:ext cx="402336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rPr sz="1300" dirty="0"/>
              <a:t>Bookmark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8152" y="4631902"/>
            <a:ext cx="544068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rPr sz="1300" dirty="0"/>
              <a:t>A query matching a title, tag or captured text returns the corresponding item.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38928"/>
            <a:ext cx="10899648" cy="685800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5202936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335991"/>
            <a:ext cx="402336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rPr sz="1300" dirty="0"/>
              <a:t>Graph and persistence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8152" y="5245107"/>
            <a:ext cx="544068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rPr sz="1300" dirty="0"/>
              <a:t>Graph nodes open their bookmarks; saved records remain after restarting Moneta.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936</Words>
  <Application>Microsoft Office PowerPoint</Application>
  <PresentationFormat>Widescreen</PresentationFormat>
  <Paragraphs>162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Moneta — Local Knowledge &amp; Bookmark Vault</dc:title>
  <dc:subject>Project overview: problem, workflow, features, architecture and technology stack</dc:subject>
  <dc:creator>Moneta</dc:creator>
  <cp:keywords>Moneta, local-first, Rust, Tauri, SQLite, knowledge graph, local AI</cp:keywords>
  <dc:description>generated using python-pptx</dc:description>
  <cp:lastModifiedBy>Vivekananda Chowdary</cp:lastModifiedBy>
  <cp:revision>2</cp:revision>
  <dcterms:created xsi:type="dcterms:W3CDTF">2013-01-27T09:14:16Z</dcterms:created>
  <dcterms:modified xsi:type="dcterms:W3CDTF">2026-10-15T06:51:22Z</dcterms:modified>
  <cp:category/>
</cp:coreProperties>
</file>